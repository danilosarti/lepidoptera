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introduces the lepidoptera simulation engine and its digital twin ward application. The system uses structural causal models to generate realistic patient trajectories, enabling trainees to practice clinical decision-making in a safe, reproducible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main sections. We start with the conceptual and technical foundations, move through the clinical model, then show the interactive digital twin, and finish with practical training applications.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gaps motivate lepidoptera: temporal dynamics, counterfactual feedback, and reproducibility. The system addresses all three simultaneously.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lepidoptera is a structural causal model engine. You declare a DAG, attach generative mechanisms, and simulate populations. Interventions re-sample the downstream subgraph, giving you counterfactual populations for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insight: by making causal assumptions explicit in the DAG, we can compute counterfactuals. This is not possible with purely statistical (associational) models. The do() operator simulates a policy intervention, not just a subgroup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Continuous features become numeric columns. Categorical become unordered factors. Ordinal become ordered factors. The type determines which mechanism factories are compatible — for example, an ordered_logit() output must be ordinal. Custom mechanisms registered with register_mechanism() can handle any parent/output type combination.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pre-built factories cover the most common causal relationship types. For anything more complex — mixed parent types, domain-specific logic — register_mechanism() accepts any R function that takes a named list of parent values and returns a single value of the declared output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propagate() returns a SimulationResult with $baseline (no intervention) and $intervened (with intervention) data frames, plus $affected_features and $propagation_order. compare() gives a per-variable summary of the differences. mode="partial" re-uses the same baseline random draws so only the structural change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complete hospital DAG. Age drives comorbidity (ordered logit); comorbidity drives pneumonia (custom ordinal → categorical mechanism). Vital signs depend on pneumonia and comorbidity. Severity is derived from SpO₂ and comorbidity. Hospitalization, ICU, and outcome are downstream. The key property: every path is explicit, so every intervention propagates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digital twin is implemented in digital_twin_ward.R and uses the lepidoptera system as its baseline population generator. new_ward() creates the initial patient population. step_ward() advances time. Decisions are accumulated in a pending list and flushed at the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Markov transition probabilities are intentionally parameterised to be clinically plausible but are not validated against real data. Before using in formal training, a clinical specialist should review and calibrate the parameters in .transition_patient() against historical ward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Decisions are accumulated in a pending list and applied at the next step_ward() call. This design supports asynchronous UI input — decisions from multiple staff for multiple patients can be queued before a single time advance.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NEWS implementation in .compute_news() uses five parameters (SpO₂, temperature, respiratory rate, heart rate, systolic BP). A full NEWS-2 implementation would also include consciousness level and supplemental oxygen flag — easy to add by extending .compute_news().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Shiny app (ward_app.R) is entirely reactive — selecting a patient, queuing decisions, and advancing time all update in real time with no page reload. The dark theme is designed to reduce eye strain in clinical/simulation settings. Run with: setwd("~/lepidoptera/lepidoptera"); shiny::runApp("ward_app.R")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Extending the scenario library is straightforward: pick a seed, run a few hours manually in R to check the trajectory is interesting, document the learning objectives, and add it to the catalogue. Scenarios can also be generated programmatically from intervention combinations.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Counterfactual comparison is the most powerful learning mechanism in the system. Because the baseline and intervention share the same random draws (mode="partial"), differences are attributable purely to the causal intervention, not to sampling variation. This lets trainees see the mechanistic consequence of their timing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layers share the same causal model definition. The R package is the reference implementation; the Python mirror matches it feature-for-feature. The digital twin and Shiny app depend only on the R package. The JSON export is the integration point for external frontends.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is complete and running. The five next steps represent the path from a functional prototype to a validated clinical training tool. Steps 1 and 3 are the highest-value improvements for educational fidelity. Steps 4 and 5 are optional extensions for richer trainee experiences.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164E63">
              <a:alpha val="60000"/>
            </a:srgbClr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840480"/>
            <a:ext cx="2560320" cy="2560320"/>
          </a:xfrm>
          <a:prstGeom prst="ellipse">
            <a:avLst/>
          </a:prstGeom>
          <a:solidFill>
            <a:srgbClr val="0F766E">
              <a:alpha val="50000"/>
            </a:srgbClr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lepidoptera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Simulation Engine for Clinical Training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029200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97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causal models · Markov patient dynamics · Counterfactual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Package  ·  Python Mirror  ·  Shiny Digital Twin  ·  JSON Export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23444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70432" y="12161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164592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causal models, DAGs, feature types, mechanism library, interventions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05156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65192" y="123444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13832" y="12161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Hospital Model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65192" y="164592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Pneumology ward DAG — from triage variables to clinical outcomes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" y="301752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70432" y="29992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Ward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" y="342900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Markov dynamics, clinical decisions, NEWS scoring, Shiny interface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8346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65192" y="301752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13832" y="29992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Use Cases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65192" y="342900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library, counterfactual feedback, architecture, getting started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existing training methods fall short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cases have no dynamics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" y="2578608"/>
            <a:ext cx="24323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and video cases freeze time. Real patients deteriorate — or improve — hour by hour. Trainees never experience the temporal pressure of clinical decision-making.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🔁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37560" y="1920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counterfactual feedback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10128" y="2578608"/>
            <a:ext cx="24323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simulation, trainees rarely see "what would have happened if you had started antibiotics 6 hours earlier." Without this, causal reasoning cannot be taught.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🎲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72200" y="1920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Non-reproducible scenarios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44768" y="2578608"/>
            <a:ext cx="24323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 mannequin simulators vary between runs. Different instructors produce different outcomes from the "same" case, making cross-cohort comparison impossible.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lepidoptera at a glance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simulation engine for building clinically realistic patient populations from causal assumptions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51760" cy="3429000"/>
          </a:xfrm>
          <a:prstGeom prst="roundRect">
            <a:avLst>
              <a:gd name="adj" fmla="val 4138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2651760" cy="566928"/>
          </a:xfrm>
          <a:prstGeom prst="roundRect">
            <a:avLst>
              <a:gd name="adj" fmla="val 1935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7160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Structure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93776" y="2075688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defines which variables cause which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" y="2734056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sampling order guaranteed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" y="3392424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acyclicity violations possible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651760" cy="3429000"/>
          </a:xfrm>
          <a:prstGeom prst="roundRect">
            <a:avLst>
              <a:gd name="adj" fmla="val 4138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71600"/>
            <a:ext cx="2651760" cy="566928"/>
          </a:xfrm>
          <a:prstGeom prst="roundRect">
            <a:avLst>
              <a:gd name="adj" fmla="val 19355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37160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Library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28416" y="2075688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pre-built factories: normal, logit, multinomial, group effect…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28416" y="2734056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fully custom mechanisms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28416" y="3392424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continuous, categorical, ordinal freely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651760" cy="3429000"/>
          </a:xfrm>
          <a:prstGeom prst="roundRect">
            <a:avLst>
              <a:gd name="adj" fmla="val 4138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371600"/>
            <a:ext cx="2651760" cy="566928"/>
          </a:xfrm>
          <a:prstGeom prst="roundRect">
            <a:avLst>
              <a:gd name="adj" fmla="val 1935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137160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63056" y="2075688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do_fix() — hard set a variable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63056" y="2734056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shift() — transform a distribution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63056" y="3392424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mechanism_override() — swap the generative model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63056" y="4050792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via downstream BFS closure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Causal Models (SCMs)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Directed Acyclic Graph (DAG) encodes causal assumptions: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is a variable (feature).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directed edge is a causal claim.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has a mechanism: a function of its parents + noise.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follows topological order — parents always generated before children.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intervention do(X=x) cuts all incoming edges to X and fixes its value, then re-samples all descendants.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217920" y="86868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868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212080" y="17373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737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0" y="17373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737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26517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651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352044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35204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43434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4343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1252728"/>
            <a:ext cx="-1005840" cy="48463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6903720" y="1252728"/>
            <a:ext cx="457200" cy="48463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897880" y="2121408"/>
            <a:ext cx="731520" cy="5303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7360920" y="2121408"/>
            <a:ext cx="-731520" cy="5303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6629400" y="3035808"/>
            <a:ext cx="0" cy="48463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6629400" y="3904488"/>
            <a:ext cx="0" cy="43891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feature types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in the DAG must declare its type — this governs valid mechanisms and output representation.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134E4A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2588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93776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" y="222199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SpO₂, temperature, resp_rate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3776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" y="290779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3776" y="3337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" y="359359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normal(), linear_gaussian()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3776" y="4023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" y="427939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max bounds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132588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1E3A5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32588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32588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328416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28416" y="222199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(M/F), pneumonia (yes/no), ICU (yes/no)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28416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28416" y="290779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(unordered)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28416" y="3337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28416" y="359359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categorical_marginal(), multinomial_logit()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28416" y="4023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28416" y="427939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levels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35040" y="132588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2E1065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132588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132588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163056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63056" y="222199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(mild/moderate/severe), comorbidity (none/mild/severe)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63056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63056" y="290779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factor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63056" y="3337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63056" y="359359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ordinal_marginal(), ordered_logit()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63056" y="4023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63056" y="427939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levels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Mechanism Library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50292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784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factories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normal()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14600" y="14173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root — Gaussian marginal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379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categorical_marginal()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14600" y="1837944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root — fixed probabilities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2585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ordinal_marginal()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14600" y="225856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root — fixed cumulative probs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6791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linear_gaussian()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267919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← continuous parents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0998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group_effect()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3099816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← categorical parent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multinomial_logit()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35204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← any parents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9410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ordered_logit()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3941064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← any parents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361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copula_mechanism()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14600" y="436168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dependency (Gaussian copula)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23560" y="914400"/>
            <a:ext cx="3108960" cy="397764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9875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mechanism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42432" y="1371600"/>
            <a:ext cx="2880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my_fn &lt;- function(pv)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 &lt;- switch(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pv$comorbidity,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none   = 0.18,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mild   = 0.38,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severe = 0.62)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sample(c("yes","no"),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1L, prob=c(p,1-p))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register_mechanism(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"pneumonia_comorbidity",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my_fn,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parent_types = "ordinal",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output_type  = "categorical"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Interventions &amp; Counterfactuals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propagate() re-generates the downstream DAG subgraph under a modified causal structure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898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do_fix()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set a variable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76479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feature to a constant value, removing all causal parents (the do-calculus "knife cut").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54203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do_fix("pneumonia", "yes")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898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389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a distribution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76479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function to every sampled value — e.g. age +20 years to model an elderly cohort.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54203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shift("age", function(x) x + 20)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101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mechanism_override()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310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generative model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68503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mechanism entirely — e.g. a worse comorbidity distribution for an outbreak scenario.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46227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mechanism_override("comorbidity", new_mech)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20040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3101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do_distribution()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310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 the distribution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368503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a variable to follow a new distribution (e.g. uniform age) while keeping the causal structure below.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446227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do_distribution("age", function(n) runif(n,18,40))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Hospital Causal DAG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Pneumology ward — 11 variables, fully specified causal graph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417320" cy="429768"/>
          </a:xfrm>
          <a:prstGeom prst="roundRect">
            <a:avLst>
              <a:gd name="adj" fmla="val 1702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15568"/>
            <a:ext cx="1417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417320" cy="429768"/>
          </a:xfrm>
          <a:prstGeom prst="roundRect">
            <a:avLst>
              <a:gd name="adj" fmla="val 1702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74520"/>
            <a:ext cx="1417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1115568"/>
            <a:ext cx="1417320" cy="429768"/>
          </a:xfrm>
          <a:prstGeom prst="roundRect">
            <a:avLst>
              <a:gd name="adj" fmla="val 1702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115568"/>
            <a:ext cx="1417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1874520"/>
            <a:ext cx="1417320" cy="429768"/>
          </a:xfrm>
          <a:prstGeom prst="roundRect">
            <a:avLst>
              <a:gd name="adj" fmla="val 1702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874520"/>
            <a:ext cx="1417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03320" y="1115568"/>
            <a:ext cx="1417320" cy="429768"/>
          </a:xfrm>
          <a:prstGeom prst="roundRect">
            <a:avLst>
              <a:gd name="adj" fmla="val 1702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115568"/>
            <a:ext cx="1417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03320" y="1874520"/>
            <a:ext cx="1417320" cy="429768"/>
          </a:xfrm>
          <a:prstGeom prst="roundRect">
            <a:avLst>
              <a:gd name="adj" fmla="val 1702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1874520"/>
            <a:ext cx="1417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 Rate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03320" y="2633472"/>
            <a:ext cx="1417320" cy="429768"/>
          </a:xfrm>
          <a:prstGeom prst="roundRect">
            <a:avLst>
              <a:gd name="adj" fmla="val 1702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2633472"/>
            <a:ext cx="1417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1874520"/>
            <a:ext cx="1417320" cy="429768"/>
          </a:xfrm>
          <a:prstGeom prst="roundRect">
            <a:avLst>
              <a:gd name="adj" fmla="val 1702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1874520"/>
            <a:ext cx="1417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2633472"/>
            <a:ext cx="1417320" cy="429768"/>
          </a:xfrm>
          <a:prstGeom prst="roundRect">
            <a:avLst>
              <a:gd name="adj" fmla="val 17021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2633472"/>
            <a:ext cx="1417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Hospitalization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78040" y="1874520"/>
            <a:ext cx="1417320" cy="429768"/>
          </a:xfrm>
          <a:prstGeom prst="roundRect">
            <a:avLst>
              <a:gd name="adj" fmla="val 1702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1874520"/>
            <a:ext cx="1417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78040" y="2633472"/>
            <a:ext cx="1417320" cy="429768"/>
          </a:xfrm>
          <a:prstGeom prst="roundRect">
            <a:avLst>
              <a:gd name="adj" fmla="val 17021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2633472"/>
            <a:ext cx="1417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65860" y="1330452"/>
            <a:ext cx="155448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2720340" y="1330452"/>
            <a:ext cx="0" cy="758952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2720340" y="2089404"/>
            <a:ext cx="1691640" cy="-758952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2720340" y="2089404"/>
            <a:ext cx="169164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2720340" y="2089404"/>
            <a:ext cx="1691640" cy="758952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2720340" y="1330452"/>
            <a:ext cx="1691640" cy="1517904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4411980" y="2848356"/>
            <a:ext cx="1783080" cy="-758952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2720340" y="1330452"/>
            <a:ext cx="3474720" cy="758952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6195060" y="2089404"/>
            <a:ext cx="0" cy="758952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1165860" y="1330452"/>
            <a:ext cx="5029200" cy="1517904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6195060" y="2089404"/>
            <a:ext cx="169164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6195060" y="2848356"/>
            <a:ext cx="1691640" cy="-758952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7886700" y="2089404"/>
            <a:ext cx="0" cy="758952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6195060" y="2089404"/>
            <a:ext cx="1691640" cy="758952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2720340" y="1330452"/>
            <a:ext cx="5166360" cy="1517904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1165860" y="1330452"/>
            <a:ext cx="6720840" cy="1517904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365760" y="4526280"/>
            <a:ext cx="201168" cy="2011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" y="44988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(roots)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121408" y="452628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68296" y="44988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status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877056" y="452628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23944" y="44988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signs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632704" y="4526280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79592" y="44988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severity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388352" y="4526280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35240" y="44988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 / Outcome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Digital Twin Ward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temporal wrapper over the lepidoptera system — 12 patients, hourly Markov dynamics, clinical decisions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5488" y="18562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patients generated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patient is sampled from the hospital DAG — heterogeneous severity, comorbidities, vital signs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3258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10128" y="18562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time steps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2128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step_ward(dt=1) advances all patients by one hour — SpO₂, temp, HR, resp rate, severity all drift via Markov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⚕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44768" y="18562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clinical decisions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2128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antibiotic · oxygen therapy · stop O₂ · corticosteroid · admit ICU · transfer from ICU · discharge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46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" y="36850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scoring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0416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Early Warning Score computed each step — drives color-coded patient badges and automated alerts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31546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246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310128" y="36850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export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40416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export_ward_json() snapshots the full state — consumable by React, Unity, Godot, or any frontend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31546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3246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44768" y="36850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Gamification-ready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40416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Seed-reproducible scenarios, discharge/death score tracking, pending-decision queue — built for game loops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Hourly Patient Dynamics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time step, every active patient evolves via a clinically parameterised Markov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2331720" cy="640080"/>
          </a:xfrm>
          <a:prstGeom prst="roundRect">
            <a:avLst>
              <a:gd name="adj" fmla="val 14286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070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91840" y="1207008"/>
            <a:ext cx="2331720" cy="640080"/>
          </a:xfrm>
          <a:prstGeom prst="roundRect">
            <a:avLst>
              <a:gd name="adj" fmla="val 14286"/>
            </a:avLst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2070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26480" y="1207008"/>
            <a:ext cx="2331720" cy="640080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2070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88920" y="1527048"/>
            <a:ext cx="502920" cy="0"/>
          </a:xfrm>
          <a:prstGeom prst="line">
            <a:avLst/>
          </a:prstGeom>
          <a:noFill/>
          <a:ln w="25400">
            <a:solidFill>
              <a:srgbClr val="CA8A04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3291840" y="1664208"/>
            <a:ext cx="-50292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5623560" y="1527048"/>
            <a:ext cx="50292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6126480" y="1664208"/>
            <a:ext cx="-502920" cy="0"/>
          </a:xfrm>
          <a:prstGeom prst="line">
            <a:avLst/>
          </a:prstGeom>
          <a:noFill/>
          <a:ln w="25400">
            <a:solidFill>
              <a:srgbClr val="CA8A04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6126480" y="2377440"/>
            <a:ext cx="2331720" cy="548640"/>
          </a:xfrm>
          <a:prstGeom prst="roundRect">
            <a:avLst>
              <a:gd name="adj" fmla="val 16667"/>
            </a:avLst>
          </a:prstGeom>
          <a:solidFill>
            <a:srgbClr val="37415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377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DECEASED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92340" y="1847088"/>
            <a:ext cx="0" cy="530352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365760" y="2999232"/>
            <a:ext cx="8366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effects (per hour)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2316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Worsening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34840" y="3429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730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Antibiotic (≥12 h)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23160" y="3730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−65% worsening prob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34840" y="37307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+100% improvement prob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66560" y="3730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 bpm/h HR drift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40050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therapy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423160" y="4005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+2.5% SpO₂/h (1st 2h)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34840" y="4005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+0.4% SpO₂/h (maintenance)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66560" y="4005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 brpm/h RR drift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42793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Corticosteroid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23160" y="4279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−25% worsening prob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34840" y="42793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 improvement prob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66560" y="4279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−0.08°C/h temp drift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4553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admission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423160" y="45537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−50% worsening prob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434840" y="45537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+50% improvement prob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66560" y="45537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rate ×0.43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System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clinical actions — each has eligibility criteria and mechanistic effects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1261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💊  antibiotic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3776" y="1536192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Pneumonia — any severity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3776" y="1728216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SpO₂ drift +0.2/h after 12 h; −65% worsening after 12 h; −0.06°C/h temp after 18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22311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💨  oxygen_therapy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" y="2505456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SpO₂ &lt; 94% (or prophylactic)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" y="269748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+2.5% SpO₂/h (first 2 h), then +0.4%/h; −0.2 brpm/h RR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145536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3200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🚫  stop_o2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" y="347472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Patient on O₂; SpO₂ ≥ 94%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" y="3666744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Resets oxygen_therapy and hours counter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11480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41696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💉  corticosteroid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" y="4443984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Moderate or severe pneumonia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" y="4636008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−25% worsening; +40% improvement; −0.08°C/h temp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207008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37176" y="1261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🔴  admit_icu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37176" y="1536192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Status: admitted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37176" y="1728216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−50% worsening; +50% improvement; death rate ×0.43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176272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37176" y="22311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⬆️  transfer_from_icu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37176" y="2505456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Status: ICU and severity ≠ severe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37176" y="269748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Moves patient back to admitted ward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3145536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37176" y="3200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 discharge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37176" y="347472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Mild + SpO₂ ≥ 94% + temp ≤ 37.8°C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37176" y="3666744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Removes patient from ward; increments score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411480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1C3A2A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can_apply(patient, decision)  returns TRUE / FALSE based on patient state — prevents illegal transitions.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NEWS: National Early Warning Score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every step for each patient — drives colour-coded badges and automated alerts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1143000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118872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08760" y="1170432"/>
            <a:ext cx="530352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45336" y="11887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39112" y="1170432"/>
            <a:ext cx="530352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75688" y="11887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9464" y="1170432"/>
            <a:ext cx="530352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1887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99816" y="1170432"/>
            <a:ext cx="566928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1188720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66744" y="1170432"/>
            <a:ext cx="530352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11887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97096" y="1170432"/>
            <a:ext cx="530352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33672" y="11887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27448" y="1170432"/>
            <a:ext cx="530352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4024" y="11887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554480"/>
            <a:ext cx="11430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1572768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SpO₂ (%)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508760" y="1554480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45336" y="15727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≤91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39112" y="1554480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75688" y="15727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92–93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9464" y="1554480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15727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94–95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99816" y="1554480"/>
            <a:ext cx="56692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36392" y="157276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66744" y="1554480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15727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97096" y="1554480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33672" y="15727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27448" y="1554480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64024" y="15727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1938528"/>
            <a:ext cx="11430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1956816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(°C)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508760" y="1938528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45336" y="195681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≤35.0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039112" y="1938528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75688" y="195681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569464" y="1938528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06040" y="195681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35.1–36.0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099816" y="1938528"/>
            <a:ext cx="56692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36392" y="1956816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36.1–38.0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66744" y="1938528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03320" y="195681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38.1–39.0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97096" y="1938528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33672" y="195681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≥39.1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27448" y="1938528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64024" y="195681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2322576"/>
            <a:ext cx="11430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2336" y="2340864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 Rate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508760" y="2322576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545336" y="234086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≤8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039112" y="2322576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75688" y="234086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569464" y="2322576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06040" y="234086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9–11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099816" y="2322576"/>
            <a:ext cx="56692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36392" y="2340864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12–20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666744" y="2322576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03320" y="234086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21–24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197096" y="2322576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33672" y="234086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≥25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727448" y="2322576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64024" y="234086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2706624"/>
            <a:ext cx="11430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02336" y="2724912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508760" y="2706624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545336" y="272491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≤40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039112" y="2706624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075688" y="272491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569464" y="2706624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606040" y="272491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41–50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099816" y="2706624"/>
            <a:ext cx="56692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136392" y="2724912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51–90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666744" y="2706624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03320" y="272491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91–110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4197096" y="2706624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233672" y="272491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111–130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727448" y="2706624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764024" y="272491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≥131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" y="3090672"/>
            <a:ext cx="11430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02336" y="310896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 BP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1508760" y="3090672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545336" y="310896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≤90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2039112" y="3090672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075688" y="310896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91–100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2569464" y="3090672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606040" y="310896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101–110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3099816" y="3090672"/>
            <a:ext cx="56692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136392" y="3108960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111–219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3666744" y="3090672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703320" y="310896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4197096" y="3090672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233672" y="310896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4727448" y="3090672"/>
            <a:ext cx="5303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764024" y="310896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≥220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571500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thresholds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5715000" y="1508760"/>
            <a:ext cx="3017520" cy="685800"/>
          </a:xfrm>
          <a:prstGeom prst="roundRect">
            <a:avLst>
              <a:gd name="adj" fmla="val 10667"/>
            </a:avLst>
          </a:prstGeom>
          <a:solidFill>
            <a:srgbClr val="F0FDF4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833872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0–2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5833872" y="17922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6949440" y="1527048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monitoring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5715000" y="2331720"/>
            <a:ext cx="3017520" cy="685800"/>
          </a:xfrm>
          <a:prstGeom prst="roundRect">
            <a:avLst>
              <a:gd name="adj" fmla="val 10667"/>
            </a:avLst>
          </a:prstGeom>
          <a:solidFill>
            <a:srgbClr val="FFFBEB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833872" y="23500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3–4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5833872" y="26151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Low-Medium</a:t>
            </a:r>
            <a:endParaRPr lang="en-US" sz="1000" dirty="0"/>
          </a:p>
        </p:txBody>
      </p:sp>
      <p:sp>
        <p:nvSpPr>
          <p:cNvPr id="108" name="Text 106"/>
          <p:cNvSpPr/>
          <p:nvPr/>
        </p:nvSpPr>
        <p:spPr>
          <a:xfrm>
            <a:off x="6949440" y="2350008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monitoring frequency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5715000" y="3154680"/>
            <a:ext cx="3017520" cy="685800"/>
          </a:xfrm>
          <a:prstGeom prst="roundRect">
            <a:avLst>
              <a:gd name="adj" fmla="val 10667"/>
            </a:avLst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833872" y="31729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5–6</a:t>
            </a:r>
            <a:endParaRPr lang="en-US" sz="1100" dirty="0"/>
          </a:p>
        </p:txBody>
      </p:sp>
      <p:sp>
        <p:nvSpPr>
          <p:cNvPr id="111" name="Text 109"/>
          <p:cNvSpPr/>
          <p:nvPr/>
        </p:nvSpPr>
        <p:spPr>
          <a:xfrm>
            <a:off x="5833872" y="34381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6949440" y="3172968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clinical review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5715000" y="3977640"/>
            <a:ext cx="3017520" cy="685800"/>
          </a:xfrm>
          <a:prstGeom prst="roundRect">
            <a:avLst>
              <a:gd name="adj" fmla="val 10667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833872" y="39959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≥7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5833872" y="42611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000" dirty="0"/>
          </a:p>
        </p:txBody>
      </p:sp>
      <p:sp>
        <p:nvSpPr>
          <p:cNvPr id="116" name="Text 114"/>
          <p:cNvSpPr/>
          <p:nvPr/>
        </p:nvSpPr>
        <p:spPr>
          <a:xfrm>
            <a:off x="6949440" y="3995928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escalation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365760" y="4096512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8" name="Text 116"/>
          <p:cNvSpPr/>
          <p:nvPr/>
        </p:nvSpPr>
        <p:spPr>
          <a:xfrm>
            <a:off x="502920" y="41513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alerts: SpO₂ &lt; 92% · Fever &gt; 39°C · RR &gt; 25 brpm · HR &gt; 110 bpm · SBP &lt; 90 mmHg · Severe with no antibiotic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Shiny Interface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ward_app.R  —  dark-theme, real-time, three-column layout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61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618488"/>
            <a:ext cx="2395728" cy="502920"/>
          </a:xfrm>
          <a:prstGeom prst="roundRect">
            <a:avLst>
              <a:gd name="adj" fmla="val 10909"/>
            </a:avLst>
          </a:prstGeom>
          <a:solidFill>
            <a:srgbClr val="1E3A5F"/>
          </a:solidFill>
          <a:ln w="381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64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 · James 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2064" y="185623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· NEWS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" y="2231136"/>
            <a:ext cx="2395728" cy="502920"/>
          </a:xfrm>
          <a:prstGeom prst="roundRect">
            <a:avLst>
              <a:gd name="adj" fmla="val 10909"/>
            </a:avLst>
          </a:prstGeom>
          <a:solidFill>
            <a:srgbClr val="111827"/>
          </a:solidFill>
          <a:ln w="38100">
            <a:solidFill>
              <a:srgbClr val="CCA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22768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 · Mary O.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" y="24688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· NEWS 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2843784"/>
            <a:ext cx="2395728" cy="502920"/>
          </a:xfrm>
          <a:prstGeom prst="roundRect">
            <a:avLst>
              <a:gd name="adj" fmla="val 10909"/>
            </a:avLst>
          </a:prstGeom>
          <a:solidFill>
            <a:srgbClr val="111827"/>
          </a:solidFill>
          <a:ln w="38100">
            <a:solidFill>
              <a:srgbClr val="2299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8895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 · John L.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" y="30815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· NEWS 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3456432"/>
            <a:ext cx="2395728" cy="502920"/>
          </a:xfrm>
          <a:prstGeom prst="roundRect">
            <a:avLst>
              <a:gd name="adj" fmla="val 10909"/>
            </a:avLst>
          </a:prstGeom>
          <a:solidFill>
            <a:srgbClr val="111827"/>
          </a:solidFill>
          <a:ln w="38100">
            <a:solidFill>
              <a:srgbClr val="DD6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35021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 · Lisa P.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" y="36941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· NEWS 7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4069080"/>
            <a:ext cx="2395728" cy="502920"/>
          </a:xfrm>
          <a:prstGeom prst="roundRect">
            <a:avLst>
              <a:gd name="adj" fmla="val 10909"/>
            </a:avLst>
          </a:prstGeom>
          <a:solidFill>
            <a:srgbClr val="111827"/>
          </a:solidFill>
          <a:ln w="38100">
            <a:solidFill>
              <a:srgbClr val="2299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41148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P05 · David C.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" y="430682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· NEWS 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17520" y="1170432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123444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 · James S. — ICU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54680" y="152704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y.o. · M · Comorbidity: severe · 🫁 Active pneumonia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27248" y="1847088"/>
            <a:ext cx="621792" cy="658368"/>
          </a:xfrm>
          <a:prstGeom prst="roundRect">
            <a:avLst>
              <a:gd name="adj" fmla="val 8824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27248" y="1901952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27248" y="222199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SpO₂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794760" y="1847088"/>
            <a:ext cx="621792" cy="658368"/>
          </a:xfrm>
          <a:prstGeom prst="roundRect">
            <a:avLst>
              <a:gd name="adj" fmla="val 8824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94760" y="1901952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94760" y="222199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462272" y="1847088"/>
            <a:ext cx="621792" cy="658368"/>
          </a:xfrm>
          <a:prstGeom prst="roundRect">
            <a:avLst>
              <a:gd name="adj" fmla="val 8824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62272" y="1901952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62272" y="222199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129784" y="1847088"/>
            <a:ext cx="621792" cy="658368"/>
          </a:xfrm>
          <a:prstGeom prst="roundRect">
            <a:avLst>
              <a:gd name="adj" fmla="val 8824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9784" y="1901952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29784" y="222199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797296" y="1847088"/>
            <a:ext cx="621792" cy="658368"/>
          </a:xfrm>
          <a:prstGeom prst="roundRect">
            <a:avLst>
              <a:gd name="adj" fmla="val 8824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97296" y="1901952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92/60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797296" y="222199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127248" y="25968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8  🔴  SEVERE — no antibiotic  ⚠ Critical SpO₂: 84%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127248" y="2944368"/>
            <a:ext cx="3383280" cy="1554480"/>
          </a:xfrm>
          <a:prstGeom prst="roundRect">
            <a:avLst>
              <a:gd name="adj" fmla="val 3529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46120" y="30175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SpO₂ trend  ·  Temperature  ·  RR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91840" y="3931920"/>
            <a:ext cx="438912" cy="87782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30752" y="4019702"/>
            <a:ext cx="438912" cy="43891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69664" y="4063594"/>
            <a:ext cx="438912" cy="43891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08576" y="4107485"/>
            <a:ext cx="438912" cy="87782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47488" y="4195267"/>
            <a:ext cx="438912" cy="-43891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0" y="4151376"/>
            <a:ext cx="438912" cy="-43891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20840" y="1170432"/>
            <a:ext cx="2011680" cy="3566160"/>
          </a:xfrm>
          <a:prstGeom prst="roundRect">
            <a:avLst>
              <a:gd name="adj" fmla="val 454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39712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 Decisions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793992" y="1627632"/>
            <a:ext cx="1828800" cy="384048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93992" y="16276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Start Antibiotic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793992" y="2130552"/>
            <a:ext cx="1828800" cy="384048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93992" y="21305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Start O₂ Therapy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793992" y="2633472"/>
            <a:ext cx="1828800" cy="38404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93992" y="26334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 Corticosteroid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839712" y="3273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⏩ Time Controls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793992" y="3566160"/>
            <a:ext cx="566928" cy="347472"/>
          </a:xfrm>
          <a:prstGeom prst="roundRect">
            <a:avLst>
              <a:gd name="adj" fmla="val 157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93992" y="356616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h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415784" y="3566160"/>
            <a:ext cx="566928" cy="347472"/>
          </a:xfrm>
          <a:prstGeom prst="roundRect">
            <a:avLst>
              <a:gd name="adj" fmla="val 15789"/>
            </a:avLst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15784" y="356616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 h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037576" y="3566160"/>
            <a:ext cx="566928" cy="347472"/>
          </a:xfrm>
          <a:prstGeom prst="roundRect">
            <a:avLst>
              <a:gd name="adj" fmla="val 15789"/>
            </a:avLst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037576" y="356616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 h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839712" y="4005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Event Log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839712" y="42793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[H002] DEATH: James S.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[H001] severity severe→…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[H001] P01: admit_icu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Scenario Library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each scenario is a fixed seed, every trainee faces exactly the same patient trajectories — enabling cross-cohort comparison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51760" cy="3611880"/>
          </a:xfrm>
          <a:prstGeom prst="roundRect">
            <a:avLst>
              <a:gd name="adj" fmla="val 4138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3444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SCN-01  ·  Beginner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828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Deteriorating Admission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219456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 = 1001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2487168"/>
            <a:ext cx="24323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72-year-old with moderate comorbidity is admitted with pneumonia and SpO₂ 91%. Over 6 hours, SpO₂ gradually falls without oxygen therapy. The decision to delay treatment is clinically visible in the trajectory.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4050792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objectives: Timely O₂ initiation · NEWS escalation thresholds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651760" cy="3611880"/>
          </a:xfrm>
          <a:prstGeom prst="roundRect">
            <a:avLst>
              <a:gd name="adj" fmla="val 4138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3444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23444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SCN-02  ·  Intermediate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1828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ICU Resource Crunch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219456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 = 2042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10128" y="2487168"/>
            <a:ext cx="24323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ward of 12 patients includes 4 candidates for ICU but only 3 beds. Three patients deteriorate simultaneously at Hour 4. The trainee must triage under constraint and justify the decision not to escalate one patient.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10128" y="4050792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objectives: Priority scoring under resource constraints · ICU criteria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234440"/>
            <a:ext cx="2651760" cy="3611880"/>
          </a:xfrm>
          <a:prstGeom prst="roundRect">
            <a:avLst>
              <a:gd name="adj" fmla="val 4138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23444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123444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SCN-03  ·  Advanced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44768" y="1828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Outbreak Surge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44768" y="219456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 = 3333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44768" y="2487168"/>
            <a:ext cx="24323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comorbidity distribution (mechanism_override). Nine of 12 patients present with pneumonia. Antibiotic supply is flagged as critical at Hour 12. The trainee must allocate limited antibiotics to maximise ward survival.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44768" y="4050792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objectives: Population-level thinking · pharmacotherapy rationing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Counterfactual Learning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would have happened if you had started the antibiotic 6 hours earlier?"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4023360" cy="3611880"/>
          </a:xfrm>
          <a:prstGeom prst="roundRect">
            <a:avLst>
              <a:gd name="adj" fmla="val 2532"/>
            </a:avLst>
          </a:prstGeom>
          <a:solidFill>
            <a:srgbClr val="1E293B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98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Trainee Decision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H001  Patient P01 admitted — severity: severe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H004  SpO₂ drops to 84% · NEWS 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6883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H006  Trainee starts O₂ therapy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16382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H008  Trainee starts antibiotic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6393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H012  Severity: severe (unchanged)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H018  DEATH: P01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207008"/>
            <a:ext cx="4023360" cy="3611880"/>
          </a:xfrm>
          <a:prstGeom prst="roundRect">
            <a:avLst>
              <a:gd name="adj" fmla="val 2532"/>
            </a:avLst>
          </a:prstGeom>
          <a:solidFill>
            <a:srgbClr val="0F2A1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98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(antibiotic at H001)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H001  Patient P01 admitted — antibiotic started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2128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H001  O₂ therapy started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6883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H004  SpO₂ stable at 89%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316382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H012  Antibiotic effect active — worsening ×0.35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6393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H016  Severity: moderate (improved)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4114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H024  Severity: mild · candidate for discharge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892040"/>
            <a:ext cx="8366760" cy="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663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 with: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propagate(hospital, interventions=list(do_fix("antibiotic","TRUE")), mode="partial")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compare(result)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68680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868680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Package  (lepidoptera)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93776" y="1307592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feature_spec · add_feature · add_dependency · finalize_system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· propagate · compare · register_mechanism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mechanism_library · copula_mechanism · export_system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17720" y="86868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17720" y="868680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45736" y="868680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Mirror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45736" y="1307592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lepidoptera/system.py · simulate.py · interventions.py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learned_mechanism · llm_mechanism (OpenAI)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DAG API — interoperable JSON export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240280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2240280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" y="2679192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digital_twin_ward.R — new_ward · step_ward · apply_decision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.transition_patient (Markov) · .compute_news · can_apply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export_ward_json  →  JSON for any frontend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224028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2240280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45736" y="2240280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 Interface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45736" y="2679192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ward_app.R — dark-theme 3-column reactive UI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list · Vitals detail · Decision panel · Event log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+1h / +8h / +24h time controls · JSON download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8366760" cy="1234440"/>
          </a:xfrm>
          <a:prstGeom prst="roundRect">
            <a:avLst>
              <a:gd name="adj" fmla="val 7407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611880"/>
            <a:ext cx="8366760" cy="384048"/>
          </a:xfrm>
          <a:prstGeom prst="roundRect">
            <a:avLst>
              <a:gd name="adj" fmla="val 2381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3611880"/>
            <a:ext cx="8110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Game Backends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" y="4050792"/>
            <a:ext cx="8110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export_ward_json() → ward_h000.json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patients · resources · score · recent_log · shift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for: React · Next.js · Unity · Godot · Unreal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423160" y="2103120"/>
            <a:ext cx="0" cy="1371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6675120" y="2103120"/>
            <a:ext cx="0" cy="1371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2423160" y="3474720"/>
            <a:ext cx="0" cy="1371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6675120" y="3474720"/>
            <a:ext cx="0" cy="1371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457200"/>
            <a:ext cx="2286000" cy="2286000"/>
          </a:xfrm>
          <a:prstGeom prst="ellipse">
            <a:avLst/>
          </a:prstGeom>
          <a:solidFill>
            <a:srgbClr val="134E4A">
              <a:alpha val="55000"/>
            </a:srgbClr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Started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241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Quick Start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devtools::install("r-pkg")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the hospital simulation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setwd("~/lepidoptera/lepidoptera")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source("hospital_emergency_sim.R")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Launch the digital twin ward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shiny::runApp("ward_app.R")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 in code: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library(lepidoptera)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source("digital_twin_ward.R")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hospital &lt;- .build_hospital()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ward     &lt;- new_ward(hospital, n_patients=12, seed=42)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ward     &lt;- step_ward(ward,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decisions = list(P01 = c("antibiotic","oxygen_therapy")))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export_ward_json(ward, "state_h01.json")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summary(ward)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60720" y="9601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60720" y="141732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63056" y="1417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Markov parameters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63056" y="161848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.transition_patient() with a clinical specialist and fit probabilities to real ward data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760720" y="214884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2148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63056" y="2148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scenario catalogue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63056" y="235000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10–20 seeds that produce educationally interesting trajectories; document learning objectives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60720" y="288036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63056" y="28803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feedback panel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63056" y="308152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ward_app.R with a post-session counterfactual comparison (propagate + compare)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760720" y="361188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63056" y="3611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game frontend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63056" y="381304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export_ward_json() from Unity/Godot or a React dashboard for a richer trainee experience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60720" y="434340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4343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63056" y="43434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DAG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63056" y="454456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lab results, medication pharmacokinetics, or multi-ward interactions — the system scales cleanly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lepidoptera  ·  R + Python  ·  MIT License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lepidoptera: Causal Simulation Engine for Clinical Training</dc:title>
  <dc:subject>PptxGenJS Presentation</dc:subject>
  <dc:creator>lepidoptera</dc:creator>
  <cp:lastModifiedBy>lepidoptera</cp:lastModifiedBy>
  <cp:revision>1</cp:revision>
  <dcterms:created xsi:type="dcterms:W3CDTF">2026-06-26T20:53:16Z</dcterms:created>
  <dcterms:modified xsi:type="dcterms:W3CDTF">2026-06-26T20:53:16Z</dcterms:modified>
</cp:coreProperties>
</file>